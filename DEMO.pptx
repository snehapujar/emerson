
<file path=[Content_Types].xml><?xml version="1.0" encoding="utf-8"?>
<Types xmlns="http://schemas.openxmlformats.org/package/2006/content-types">
  <Default Extension="vsd" ContentType="application/vnd.visio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notesMasterIdLst>
    <p:notesMasterId r:id="rId18"/>
  </p:notesMasterIdLst>
  <p:sldIdLst>
    <p:sldId id="279" r:id="rId2"/>
    <p:sldId id="265" r:id="rId3"/>
    <p:sldId id="270" r:id="rId4"/>
    <p:sldId id="271" r:id="rId5"/>
    <p:sldId id="263" r:id="rId6"/>
    <p:sldId id="272" r:id="rId7"/>
    <p:sldId id="262" r:id="rId8"/>
    <p:sldId id="273" r:id="rId9"/>
    <p:sldId id="268" r:id="rId10"/>
    <p:sldId id="269" r:id="rId11"/>
    <p:sldId id="274" r:id="rId12"/>
    <p:sldId id="275" r:id="rId13"/>
    <p:sldId id="276" r:id="rId14"/>
    <p:sldId id="277" r:id="rId15"/>
    <p:sldId id="260" r:id="rId16"/>
    <p:sldId id="27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6A3883-F491-48CF-82E2-EF8E513AC294}" type="datetimeFigureOut">
              <a:rPr lang="en-US" smtClean="0"/>
              <a:t>12/3/2020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5122C1-90DE-440F-8714-C789B90104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419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5122C1-90DE-440F-8714-C789B901042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8768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5122C1-90DE-440F-8714-C789B901042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914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5122C1-90DE-440F-8714-C789B901042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9863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5122C1-90DE-440F-8714-C789B901042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0090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8F3DC-919B-4E06-AD46-0A56BBC3B9ED}" type="datetimeFigureOut">
              <a:rPr lang="en-US" smtClean="0"/>
              <a:t>12/3/2020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E5572-3EA0-48E3-B99B-4A2863B27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855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8F3DC-919B-4E06-AD46-0A56BBC3B9ED}" type="datetimeFigureOut">
              <a:rPr lang="en-US" smtClean="0"/>
              <a:t>12/3/2020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E5572-3EA0-48E3-B99B-4A2863B27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720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8F3DC-919B-4E06-AD46-0A56BBC3B9ED}" type="datetimeFigureOut">
              <a:rPr lang="en-US" smtClean="0"/>
              <a:t>12/3/2020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E5572-3EA0-48E3-B99B-4A2863B27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851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8F3DC-919B-4E06-AD46-0A56BBC3B9ED}" type="datetimeFigureOut">
              <a:rPr lang="en-US" smtClean="0"/>
              <a:t>12/3/2020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E5572-3EA0-48E3-B99B-4A2863B27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248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8F3DC-919B-4E06-AD46-0A56BBC3B9ED}" type="datetimeFigureOut">
              <a:rPr lang="en-US" smtClean="0"/>
              <a:t>12/3/2020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E5572-3EA0-48E3-B99B-4A2863B27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399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8F3DC-919B-4E06-AD46-0A56BBC3B9ED}" type="datetimeFigureOut">
              <a:rPr lang="en-US" smtClean="0"/>
              <a:t>12/3/2020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E5572-3EA0-48E3-B99B-4A2863B27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996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8F3DC-919B-4E06-AD46-0A56BBC3B9ED}" type="datetimeFigureOut">
              <a:rPr lang="en-US" smtClean="0"/>
              <a:t>12/3/2020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E5572-3EA0-48E3-B99B-4A2863B27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52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8F3DC-919B-4E06-AD46-0A56BBC3B9ED}" type="datetimeFigureOut">
              <a:rPr lang="en-US" smtClean="0"/>
              <a:t>12/3/2020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E5572-3EA0-48E3-B99B-4A2863B27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787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8F3DC-919B-4E06-AD46-0A56BBC3B9ED}" type="datetimeFigureOut">
              <a:rPr lang="en-US" smtClean="0"/>
              <a:t>12/3/2020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E5572-3EA0-48E3-B99B-4A2863B27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650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8F3DC-919B-4E06-AD46-0A56BBC3B9ED}" type="datetimeFigureOut">
              <a:rPr lang="en-US" smtClean="0"/>
              <a:t>12/3/2020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E5572-3EA0-48E3-B99B-4A2863B27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396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8F3DC-919B-4E06-AD46-0A56BBC3B9ED}" type="datetimeFigureOut">
              <a:rPr lang="en-US" smtClean="0"/>
              <a:t>12/3/2020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E5572-3EA0-48E3-B99B-4A2863B27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888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F8F3DC-919B-4E06-AD46-0A56BBC3B9ED}" type="datetimeFigureOut">
              <a:rPr lang="en-US" smtClean="0"/>
              <a:t>12/3/2020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E5572-3EA0-48E3-B99B-4A2863B27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980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Visio_2003-2010_Drawing111.vsd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bryand10.emrsn.com/OA_HTML/OA.jsp?OAFunc=CZDEVBOMDETAILFUNCRO&amp;OASF=CZDEVMODELSTRUCTFUNCRO&amp;OAHP=CZDEVCONFIGURATORMENU&amp;PSNodeId=1363580&amp;_ri=708&amp;NavigationClicked=True&amp;ExplId=590240&amp;ModelId=1363580&amp;stackLevel=1&amp;addBreadCrumb=Y&amp;_ti=1708469429&amp;Action=ViewNode&amp;addReturnLink=N&amp;OrganizationId=4154&amp;InventoryId=8610063&amp;oapc=30&amp;selection=0_&amp;oas=GvnINYmkw_i8pIWdZI6fHg..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gif"/><Relationship Id="rId4" Type="http://schemas.openxmlformats.org/officeDocument/2006/relationships/image" Target="../media/image2.gi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132" y="2344051"/>
            <a:ext cx="10515600" cy="1325563"/>
          </a:xfrm>
        </p:spPr>
        <p:txBody>
          <a:bodyPr/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INTRODUCTION</a:t>
            </a:r>
            <a:endParaRPr lang="en-US" b="1" i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9780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428575" y="1364776"/>
            <a:ext cx="1386518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7657973"/>
              </p:ext>
            </p:extLst>
          </p:nvPr>
        </p:nvGraphicFramePr>
        <p:xfrm>
          <a:off x="1119115" y="873457"/>
          <a:ext cx="9471547" cy="50360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3" r:id="rId3" imgW="9635787" imgH="6749900" progId="Visio.Drawing.11">
                  <p:embed/>
                </p:oleObj>
              </mc:Choice>
              <mc:Fallback>
                <p:oleObj r:id="rId3" imgW="9635787" imgH="6749900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9115" y="873457"/>
                        <a:ext cx="9471547" cy="503602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161361" y="1364776"/>
            <a:ext cx="174691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In flow models Product advisor application is in ADF but in level model it’s Azure Application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5882185" y="2483893"/>
            <a:ext cx="2156346" cy="136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6732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Difference between ADF and Azure Application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7217492"/>
              </p:ext>
            </p:extLst>
          </p:nvPr>
        </p:nvGraphicFramePr>
        <p:xfrm>
          <a:off x="838200" y="1825625"/>
          <a:ext cx="105156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ADF</a:t>
                      </a:r>
                      <a:r>
                        <a:rPr lang="en-US" baseline="0" dirty="0" smtClean="0"/>
                        <a:t> Application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Azure Application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It stores the data in database(either oracle or Microsoft)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It stores the data in cloud database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It retrieves information little bit in case of bulk records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It retrieves information very fast.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Maintaince</a:t>
                      </a:r>
                      <a:r>
                        <a:rPr lang="en-US" baseline="0" dirty="0" smtClean="0"/>
                        <a:t> cost is high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Maintaince cost is low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5227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4462818" y="102780"/>
            <a:ext cx="1651379" cy="9007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947312" y="432011"/>
            <a:ext cx="832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Start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Diamond 6"/>
          <p:cNvSpPr/>
          <p:nvPr/>
        </p:nvSpPr>
        <p:spPr>
          <a:xfrm>
            <a:off x="4067033" y="1378424"/>
            <a:ext cx="2593073" cy="1637731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776716" y="1705970"/>
            <a:ext cx="13374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Product advisor Application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472147" y="1378424"/>
            <a:ext cx="1569492" cy="12508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815152" y="1555846"/>
            <a:ext cx="1514900" cy="928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2265528" y="1815152"/>
            <a:ext cx="1064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ADF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533564" y="1705970"/>
            <a:ext cx="12555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Azure Application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14" name="Straight Arrow Connector 13"/>
          <p:cNvCxnSpPr>
            <a:stCxn id="7" idx="3"/>
            <a:endCxn id="9" idx="1"/>
          </p:cNvCxnSpPr>
          <p:nvPr/>
        </p:nvCxnSpPr>
        <p:spPr>
          <a:xfrm flipV="1">
            <a:off x="6660106" y="2003862"/>
            <a:ext cx="812041" cy="1934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7" idx="1"/>
          </p:cNvCxnSpPr>
          <p:nvPr/>
        </p:nvCxnSpPr>
        <p:spPr>
          <a:xfrm flipH="1" flipV="1">
            <a:off x="3138985" y="2184484"/>
            <a:ext cx="928048" cy="128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7" idx="0"/>
          </p:cNvCxnSpPr>
          <p:nvPr/>
        </p:nvCxnSpPr>
        <p:spPr>
          <a:xfrm flipV="1">
            <a:off x="5363570" y="1003532"/>
            <a:ext cx="81886" cy="3748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1603611" y="3016155"/>
            <a:ext cx="1937982" cy="19379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1815152" y="3241598"/>
            <a:ext cx="171961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There is no need to change the existing configurator extension</a:t>
            </a:r>
          </a:p>
          <a:p>
            <a:endParaRPr lang="en-US" dirty="0"/>
          </a:p>
        </p:txBody>
      </p:sp>
      <p:cxnSp>
        <p:nvCxnSpPr>
          <p:cNvPr id="26" name="Straight Arrow Connector 25"/>
          <p:cNvCxnSpPr>
            <a:stCxn id="10" idx="2"/>
            <a:endCxn id="23" idx="0"/>
          </p:cNvCxnSpPr>
          <p:nvPr/>
        </p:nvCxnSpPr>
        <p:spPr>
          <a:xfrm>
            <a:off x="2572602" y="2483894"/>
            <a:ext cx="0" cy="5322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1965278" y="5513696"/>
            <a:ext cx="1173707" cy="6823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2265528" y="5670224"/>
            <a:ext cx="764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END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30" name="Straight Connector 29"/>
          <p:cNvCxnSpPr>
            <a:endCxn id="27" idx="0"/>
          </p:cNvCxnSpPr>
          <p:nvPr/>
        </p:nvCxnSpPr>
        <p:spPr>
          <a:xfrm>
            <a:off x="2552131" y="4954137"/>
            <a:ext cx="1" cy="5595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397087" y="3138985"/>
            <a:ext cx="1719617" cy="16104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7560859" y="3272093"/>
            <a:ext cx="155584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Requires to modify the either existing CE or propose new CE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7608626" y="5259106"/>
            <a:ext cx="1296537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7915699" y="5533747"/>
            <a:ext cx="682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END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36" name="Straight Connector 35"/>
          <p:cNvCxnSpPr>
            <a:stCxn id="33" idx="0"/>
            <a:endCxn id="31" idx="2"/>
          </p:cNvCxnSpPr>
          <p:nvPr/>
        </p:nvCxnSpPr>
        <p:spPr>
          <a:xfrm flipV="1">
            <a:off x="8256895" y="4749421"/>
            <a:ext cx="1" cy="5096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31" idx="0"/>
            <a:endCxn id="9" idx="2"/>
          </p:cNvCxnSpPr>
          <p:nvPr/>
        </p:nvCxnSpPr>
        <p:spPr>
          <a:xfrm flipH="1" flipV="1">
            <a:off x="8256893" y="2629300"/>
            <a:ext cx="3" cy="5096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2565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Difference between oracle database and cloud database in  configurator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7910428"/>
              </p:ext>
            </p:extLst>
          </p:nvPr>
        </p:nvGraphicFramePr>
        <p:xfrm>
          <a:off x="838200" y="1825625"/>
          <a:ext cx="105156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FPA Database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LPA Database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Sizing details stores in oracle database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Sizing details stores in cloud database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Debug: To verify</a:t>
                      </a:r>
                      <a:r>
                        <a:rPr lang="en-US" baseline="0" dirty="0" smtClean="0"/>
                        <a:t> the sizing details requires SQL developer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Debug: To  verify the sizing details in</a:t>
                      </a:r>
                      <a:r>
                        <a:rPr lang="en-US" baseline="0" dirty="0" smtClean="0"/>
                        <a:t> Azure database or execute the service in postman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Execution</a:t>
                      </a:r>
                      <a:r>
                        <a:rPr lang="en-US" baseline="0" dirty="0" smtClean="0"/>
                        <a:t> time is better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Execution time is fast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96153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Drawbacks to modify existing configurator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8271725"/>
              </p:ext>
            </p:extLst>
          </p:nvPr>
        </p:nvGraphicFramePr>
        <p:xfrm>
          <a:off x="838200" y="1825625"/>
          <a:ext cx="10515600" cy="1925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Pros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Cons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1.Easily modify existing configurator extension by using some conditions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1.It will work only</a:t>
                      </a:r>
                      <a:r>
                        <a:rPr lang="en-US" baseline="0" dirty="0" smtClean="0"/>
                        <a:t> in Flow and level models.</a:t>
                      </a:r>
                    </a:p>
                    <a:p>
                      <a:r>
                        <a:rPr lang="en-US" baseline="0" dirty="0" smtClean="0"/>
                        <a:t>In future again more effort is required for other families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2.Execution time will change that lead to face problems in model performance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46412" y="4421875"/>
            <a:ext cx="7601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smtClean="0">
                <a:solidFill>
                  <a:srgbClr val="FF0000"/>
                </a:solidFill>
              </a:rPr>
              <a:t>Considering above cons and planning to propose new configurator extension</a:t>
            </a:r>
            <a:endParaRPr lang="en-US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02861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5244" y="1102294"/>
            <a:ext cx="10515600" cy="518932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4000" b="1" dirty="0" smtClean="0">
                <a:solidFill>
                  <a:srgbClr val="FF0000"/>
                </a:solidFill>
              </a:rPr>
              <a:t>Planning to propose new configurator extension: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Calling Azure API in configurator extension</a:t>
            </a:r>
          </a:p>
          <a:p>
            <a:r>
              <a:rPr lang="en-US" dirty="0" smtClean="0"/>
              <a:t>In future all RMT families will utilize proposed extension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Pros:</a:t>
            </a:r>
          </a:p>
          <a:p>
            <a:r>
              <a:rPr lang="en-US" dirty="0" smtClean="0"/>
              <a:t>Cloud service performance is high than compare to oracle database</a:t>
            </a:r>
          </a:p>
          <a:p>
            <a:r>
              <a:rPr lang="en-US" dirty="0" smtClean="0"/>
              <a:t>Maintaince is Good.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Cons:</a:t>
            </a:r>
          </a:p>
          <a:p>
            <a:r>
              <a:rPr lang="en-US" dirty="0" smtClean="0"/>
              <a:t>Depends on Network.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1092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5746" y="2562415"/>
            <a:ext cx="10515600" cy="1325563"/>
          </a:xfrm>
        </p:spPr>
        <p:txBody>
          <a:bodyPr/>
          <a:lstStyle/>
          <a:p>
            <a:r>
              <a:rPr lang="en-US" i="1" dirty="0" smtClean="0">
                <a:solidFill>
                  <a:srgbClr val="FF0000"/>
                </a:solidFill>
              </a:rPr>
              <a:t>If we propose new configurator extension,</a:t>
            </a:r>
            <a:br>
              <a:rPr lang="en-US" i="1" dirty="0" smtClean="0">
                <a:solidFill>
                  <a:srgbClr val="FF0000"/>
                </a:solidFill>
              </a:rPr>
            </a:br>
            <a:r>
              <a:rPr lang="en-US" i="1" dirty="0" smtClean="0">
                <a:solidFill>
                  <a:srgbClr val="FF0000"/>
                </a:solidFill>
              </a:rPr>
              <a:t>Analyzed the impact of current flow models</a:t>
            </a:r>
            <a:endParaRPr lang="en-US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70060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78173" y="368490"/>
            <a:ext cx="1965278" cy="15012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728113" y="368490"/>
            <a:ext cx="1965278" cy="15012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730620" y="368490"/>
            <a:ext cx="1965278" cy="15012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583003" y="368490"/>
            <a:ext cx="1965278" cy="15012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380699" y="657451"/>
            <a:ext cx="13101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FLOW standalone model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4148919" y="657451"/>
            <a:ext cx="11555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FLOW</a:t>
            </a:r>
          </a:p>
          <a:p>
            <a:pPr algn="ctr"/>
            <a:r>
              <a:rPr lang="en-US" dirty="0" smtClean="0"/>
              <a:t>Super Model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7124131" y="657451"/>
            <a:ext cx="12282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FLOW</a:t>
            </a:r>
          </a:p>
          <a:p>
            <a:pPr algn="ctr"/>
            <a:r>
              <a:rPr lang="en-US" dirty="0" smtClean="0"/>
              <a:t>Assembly Model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0" y="657451"/>
            <a:ext cx="99173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No changes in existing code</a:t>
            </a:r>
            <a:endParaRPr lang="en-US" dirty="0"/>
          </a:p>
        </p:txBody>
      </p:sp>
      <p:cxnSp>
        <p:nvCxnSpPr>
          <p:cNvPr id="24" name="Straight Connector 23"/>
          <p:cNvCxnSpPr/>
          <p:nvPr/>
        </p:nvCxnSpPr>
        <p:spPr>
          <a:xfrm flipH="1">
            <a:off x="354842" y="2134779"/>
            <a:ext cx="13648" cy="21915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V="1">
            <a:off x="368490" y="5568286"/>
            <a:ext cx="10854519" cy="272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173707" y="2292824"/>
            <a:ext cx="155925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Only one DP flow Model</a:t>
            </a:r>
          </a:p>
          <a:p>
            <a:r>
              <a:rPr lang="en-US" dirty="0" smtClean="0"/>
              <a:t>Example:</a:t>
            </a:r>
          </a:p>
          <a:p>
            <a:r>
              <a:rPr lang="en-US" u="sng" dirty="0" smtClean="0">
                <a:solidFill>
                  <a:schemeClr val="accent1">
                    <a:lumMod val="50000"/>
                  </a:schemeClr>
                </a:solidFill>
              </a:rPr>
              <a:t>R-1495</a:t>
            </a:r>
            <a:endParaRPr lang="en-US" u="sng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817960" y="2200491"/>
            <a:ext cx="181742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Combination of two standalone flow Models</a:t>
            </a:r>
          </a:p>
          <a:p>
            <a:r>
              <a:rPr lang="en-US" dirty="0" smtClean="0"/>
              <a:t>Example:</a:t>
            </a:r>
          </a:p>
          <a:p>
            <a:r>
              <a:rPr lang="en-US" u="sng" dirty="0" smtClean="0">
                <a:solidFill>
                  <a:schemeClr val="accent1">
                    <a:lumMod val="50000"/>
                  </a:schemeClr>
                </a:solidFill>
              </a:rPr>
              <a:t>R-3051CFA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R-3051C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R-485</a:t>
            </a:r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5" name="TextBox 54"/>
          <p:cNvSpPr txBox="1"/>
          <p:nvPr/>
        </p:nvSpPr>
        <p:spPr>
          <a:xfrm>
            <a:off x="6842076" y="2158704"/>
            <a:ext cx="185382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Combination of multiple Flow standalone models</a:t>
            </a:r>
          </a:p>
          <a:p>
            <a:r>
              <a:rPr lang="en-US" dirty="0" smtClean="0"/>
              <a:t>Example:</a:t>
            </a:r>
          </a:p>
          <a:p>
            <a:r>
              <a:rPr lang="en-US" u="sng" dirty="0" smtClean="0">
                <a:solidFill>
                  <a:schemeClr val="accent1">
                    <a:lumMod val="50000"/>
                  </a:schemeClr>
                </a:solidFill>
              </a:rPr>
              <a:t>RA-1495-DPF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u="sng" dirty="0" smtClean="0">
                <a:solidFill>
                  <a:schemeClr val="accent1">
                    <a:lumMod val="50000"/>
                  </a:schemeClr>
                </a:solidFill>
              </a:rPr>
              <a:t>R-1495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u="sng" dirty="0" smtClean="0">
                <a:solidFill>
                  <a:schemeClr val="accent1">
                    <a:lumMod val="50000"/>
                  </a:schemeClr>
                </a:solidFill>
              </a:rPr>
              <a:t>R-3051S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u="sng" dirty="0" smtClean="0">
                <a:solidFill>
                  <a:schemeClr val="accent1">
                    <a:lumMod val="50000"/>
                  </a:schemeClr>
                </a:solidFill>
              </a:rPr>
              <a:t>R-2051C</a:t>
            </a:r>
          </a:p>
          <a:p>
            <a:r>
              <a:rPr lang="en-US" u="sng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endParaRPr lang="en-US" dirty="0"/>
          </a:p>
        </p:txBody>
      </p:sp>
      <p:sp>
        <p:nvSpPr>
          <p:cNvPr id="56" name="TextBox 55"/>
          <p:cNvSpPr txBox="1"/>
          <p:nvPr/>
        </p:nvSpPr>
        <p:spPr>
          <a:xfrm>
            <a:off x="9921922" y="657451"/>
            <a:ext cx="12328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Scalar Models</a:t>
            </a:r>
            <a:endParaRPr lang="en-US" dirty="0"/>
          </a:p>
        </p:txBody>
      </p:sp>
      <p:sp>
        <p:nvSpPr>
          <p:cNvPr id="57" name="TextBox 56"/>
          <p:cNvSpPr txBox="1"/>
          <p:nvPr/>
        </p:nvSpPr>
        <p:spPr>
          <a:xfrm>
            <a:off x="9583003" y="2200491"/>
            <a:ext cx="157176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Let us assume combination of  both flow and level models</a:t>
            </a:r>
            <a:endParaRPr lang="en-US" dirty="0"/>
          </a:p>
        </p:txBody>
      </p:sp>
      <p:sp>
        <p:nvSpPr>
          <p:cNvPr id="58" name="TextBox 57"/>
          <p:cNvSpPr txBox="1"/>
          <p:nvPr/>
        </p:nvSpPr>
        <p:spPr>
          <a:xfrm>
            <a:off x="9583003" y="3770151"/>
            <a:ext cx="15717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R-3051S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R-485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R-2051L</a:t>
            </a:r>
            <a:endParaRPr lang="en-US" dirty="0"/>
          </a:p>
        </p:txBody>
      </p:sp>
      <p:cxnSp>
        <p:nvCxnSpPr>
          <p:cNvPr id="60" name="Straight Arrow Connector 59"/>
          <p:cNvCxnSpPr/>
          <p:nvPr/>
        </p:nvCxnSpPr>
        <p:spPr>
          <a:xfrm>
            <a:off x="354842" y="4231816"/>
            <a:ext cx="0" cy="13637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983207" y="4238599"/>
            <a:ext cx="1487606" cy="1013472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>
            <a:off x="1115136" y="4440682"/>
            <a:ext cx="1173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NO IMPACT</a:t>
            </a:r>
            <a:endParaRPr lang="en-US" dirty="0"/>
          </a:p>
        </p:txBody>
      </p:sp>
      <p:cxnSp>
        <p:nvCxnSpPr>
          <p:cNvPr id="67" name="Straight Arrow Connector 66"/>
          <p:cNvCxnSpPr>
            <a:endCxn id="63" idx="4"/>
          </p:cNvCxnSpPr>
          <p:nvPr/>
        </p:nvCxnSpPr>
        <p:spPr>
          <a:xfrm flipV="1">
            <a:off x="1701989" y="5252071"/>
            <a:ext cx="25021" cy="3298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9682518" y="5693810"/>
            <a:ext cx="1487606" cy="1013472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/>
          <p:cNvSpPr/>
          <p:nvPr/>
        </p:nvSpPr>
        <p:spPr>
          <a:xfrm>
            <a:off x="6866530" y="5693810"/>
            <a:ext cx="1487606" cy="1013472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/>
          <p:cNvSpPr/>
          <p:nvPr/>
        </p:nvSpPr>
        <p:spPr>
          <a:xfrm>
            <a:off x="3804027" y="4543399"/>
            <a:ext cx="1487606" cy="1013472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/>
          <p:cNvSpPr txBox="1"/>
          <p:nvPr/>
        </p:nvSpPr>
        <p:spPr>
          <a:xfrm>
            <a:off x="3974625" y="4742595"/>
            <a:ext cx="1173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NO IMPACT</a:t>
            </a:r>
            <a:endParaRPr lang="en-US" dirty="0"/>
          </a:p>
        </p:txBody>
      </p:sp>
      <p:sp>
        <p:nvSpPr>
          <p:cNvPr id="72" name="TextBox 71"/>
          <p:cNvSpPr txBox="1"/>
          <p:nvPr/>
        </p:nvSpPr>
        <p:spPr>
          <a:xfrm>
            <a:off x="7023479" y="5822751"/>
            <a:ext cx="1173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NO IMPACT</a:t>
            </a:r>
            <a:endParaRPr lang="en-US" dirty="0"/>
          </a:p>
        </p:txBody>
      </p:sp>
      <p:sp>
        <p:nvSpPr>
          <p:cNvPr id="73" name="TextBox 72"/>
          <p:cNvSpPr txBox="1"/>
          <p:nvPr/>
        </p:nvSpPr>
        <p:spPr>
          <a:xfrm>
            <a:off x="9839467" y="5864538"/>
            <a:ext cx="1173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IMPACT</a:t>
            </a:r>
            <a:endParaRPr lang="en-US" dirty="0"/>
          </a:p>
        </p:txBody>
      </p:sp>
      <p:cxnSp>
        <p:nvCxnSpPr>
          <p:cNvPr id="75" name="Straight Arrow Connector 74"/>
          <p:cNvCxnSpPr>
            <a:stCxn id="68" idx="7"/>
          </p:cNvCxnSpPr>
          <p:nvPr/>
        </p:nvCxnSpPr>
        <p:spPr>
          <a:xfrm flipV="1">
            <a:off x="10952269" y="4913699"/>
            <a:ext cx="60905" cy="9285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10970465" y="3310677"/>
            <a:ext cx="109579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Code changes are required in existing Extension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991737" y="5864538"/>
            <a:ext cx="14790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accent6"/>
                </a:solidFill>
              </a:rPr>
              <a:t>Extension triggers once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3825353" y="5888292"/>
            <a:ext cx="14790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accent6"/>
                </a:solidFill>
              </a:rPr>
              <a:t>Extension triggers once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7140906" y="4983008"/>
            <a:ext cx="14790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accent6"/>
                </a:solidFill>
              </a:rPr>
              <a:t>Extension triggers once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9415473" y="4897232"/>
            <a:ext cx="14790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accent6"/>
                </a:solidFill>
              </a:rPr>
              <a:t>Extension triggers once</a:t>
            </a:r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64773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78173" y="368490"/>
            <a:ext cx="1965278" cy="15012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728113" y="368490"/>
            <a:ext cx="1965278" cy="15012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730620" y="368490"/>
            <a:ext cx="1965278" cy="15012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583003" y="368490"/>
            <a:ext cx="1965278" cy="15012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380699" y="657451"/>
            <a:ext cx="13101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Level</a:t>
            </a:r>
          </a:p>
          <a:p>
            <a:pPr algn="ctr"/>
            <a:r>
              <a:rPr lang="en-US" dirty="0" smtClean="0"/>
              <a:t>standalone model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4148919" y="657451"/>
            <a:ext cx="11555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Level</a:t>
            </a:r>
          </a:p>
          <a:p>
            <a:pPr algn="ctr"/>
            <a:r>
              <a:rPr lang="en-US" dirty="0" smtClean="0"/>
              <a:t>Super Model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7124131" y="657451"/>
            <a:ext cx="12282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Level</a:t>
            </a:r>
          </a:p>
          <a:p>
            <a:pPr algn="ctr"/>
            <a:r>
              <a:rPr lang="en-US" dirty="0" smtClean="0"/>
              <a:t>Assembly Model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0" y="657451"/>
            <a:ext cx="99173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Proposed new configurator extension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24" name="Straight Connector 23"/>
          <p:cNvCxnSpPr/>
          <p:nvPr/>
        </p:nvCxnSpPr>
        <p:spPr>
          <a:xfrm flipH="1">
            <a:off x="354842" y="2134779"/>
            <a:ext cx="13648" cy="21915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V="1">
            <a:off x="368490" y="5568286"/>
            <a:ext cx="10854519" cy="272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173707" y="2292824"/>
            <a:ext cx="155925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Only one Level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Model</a:t>
            </a:r>
          </a:p>
          <a:p>
            <a:r>
              <a:rPr lang="en-US" dirty="0" smtClean="0"/>
              <a:t>Example:</a:t>
            </a:r>
          </a:p>
          <a:p>
            <a:r>
              <a:rPr lang="en-US" u="sng" dirty="0" smtClean="0">
                <a:solidFill>
                  <a:schemeClr val="accent1">
                    <a:lumMod val="50000"/>
                  </a:schemeClr>
                </a:solidFill>
              </a:rPr>
              <a:t>R-2051L</a:t>
            </a:r>
            <a:endParaRPr lang="en-US" u="sng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817960" y="2200491"/>
            <a:ext cx="181742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Combination of two standalone flow Models</a:t>
            </a:r>
          </a:p>
          <a:p>
            <a:r>
              <a:rPr lang="en-US" dirty="0" smtClean="0"/>
              <a:t>Example:</a:t>
            </a:r>
          </a:p>
          <a:p>
            <a:r>
              <a:rPr lang="en-US" u="sng" dirty="0" smtClean="0">
                <a:solidFill>
                  <a:schemeClr val="accent1">
                    <a:lumMod val="50000"/>
                  </a:schemeClr>
                </a:solidFill>
              </a:rPr>
              <a:t>R-3051CFA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R-T2M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R-U2</a:t>
            </a:r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5" name="TextBox 54"/>
          <p:cNvSpPr txBox="1"/>
          <p:nvPr/>
        </p:nvSpPr>
        <p:spPr>
          <a:xfrm>
            <a:off x="6842076" y="2158704"/>
            <a:ext cx="185382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Combination of multiple Flow standalone models</a:t>
            </a:r>
          </a:p>
          <a:p>
            <a:r>
              <a:rPr lang="en-US" dirty="0" smtClean="0"/>
              <a:t>Example:</a:t>
            </a:r>
          </a:p>
          <a:p>
            <a:r>
              <a:rPr lang="en-US" u="sng" dirty="0" smtClean="0">
                <a:solidFill>
                  <a:schemeClr val="accent1">
                    <a:lumMod val="50000"/>
                  </a:schemeClr>
                </a:solidFill>
              </a:rPr>
              <a:t>RA-2051L-DPL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u="sng" dirty="0" smtClean="0">
                <a:solidFill>
                  <a:schemeClr val="accent1">
                    <a:lumMod val="50000"/>
                  </a:schemeClr>
                </a:solidFill>
              </a:rPr>
              <a:t>R-2051L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u="sng" dirty="0" smtClean="0">
                <a:solidFill>
                  <a:schemeClr val="accent1">
                    <a:lumMod val="50000"/>
                  </a:schemeClr>
                </a:solidFill>
              </a:rPr>
              <a:t>R-1199</a:t>
            </a:r>
          </a:p>
          <a:p>
            <a:endParaRPr lang="en-US" u="sng" dirty="0" smtClean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u="sng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endParaRPr lang="en-US" dirty="0"/>
          </a:p>
        </p:txBody>
      </p:sp>
      <p:sp>
        <p:nvSpPr>
          <p:cNvPr id="56" name="TextBox 55"/>
          <p:cNvSpPr txBox="1"/>
          <p:nvPr/>
        </p:nvSpPr>
        <p:spPr>
          <a:xfrm>
            <a:off x="9921922" y="657451"/>
            <a:ext cx="12328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Scalar Models</a:t>
            </a:r>
            <a:endParaRPr lang="en-US" dirty="0"/>
          </a:p>
        </p:txBody>
      </p:sp>
      <p:sp>
        <p:nvSpPr>
          <p:cNvPr id="57" name="TextBox 56"/>
          <p:cNvSpPr txBox="1"/>
          <p:nvPr/>
        </p:nvSpPr>
        <p:spPr>
          <a:xfrm>
            <a:off x="9583003" y="2200491"/>
            <a:ext cx="157176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Let us assume combination of  both flow and level models</a:t>
            </a:r>
            <a:endParaRPr lang="en-US" dirty="0"/>
          </a:p>
        </p:txBody>
      </p:sp>
      <p:sp>
        <p:nvSpPr>
          <p:cNvPr id="58" name="TextBox 57"/>
          <p:cNvSpPr txBox="1"/>
          <p:nvPr/>
        </p:nvSpPr>
        <p:spPr>
          <a:xfrm>
            <a:off x="9583003" y="3770151"/>
            <a:ext cx="15717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R-3051S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R-485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R-2051L</a:t>
            </a:r>
            <a:endParaRPr lang="en-US" dirty="0"/>
          </a:p>
        </p:txBody>
      </p:sp>
      <p:cxnSp>
        <p:nvCxnSpPr>
          <p:cNvPr id="60" name="Straight Arrow Connector 59"/>
          <p:cNvCxnSpPr/>
          <p:nvPr/>
        </p:nvCxnSpPr>
        <p:spPr>
          <a:xfrm>
            <a:off x="354842" y="4231816"/>
            <a:ext cx="0" cy="13637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9682518" y="5693810"/>
            <a:ext cx="1487606" cy="1013472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/>
          <p:cNvSpPr txBox="1"/>
          <p:nvPr/>
        </p:nvSpPr>
        <p:spPr>
          <a:xfrm>
            <a:off x="9839467" y="5864538"/>
            <a:ext cx="1173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IMPACT</a:t>
            </a:r>
            <a:endParaRPr lang="en-US" dirty="0"/>
          </a:p>
        </p:txBody>
      </p:sp>
      <p:cxnSp>
        <p:nvCxnSpPr>
          <p:cNvPr id="75" name="Straight Arrow Connector 74"/>
          <p:cNvCxnSpPr>
            <a:stCxn id="68" idx="7"/>
          </p:cNvCxnSpPr>
          <p:nvPr/>
        </p:nvCxnSpPr>
        <p:spPr>
          <a:xfrm flipV="1">
            <a:off x="10952269" y="4913699"/>
            <a:ext cx="60905" cy="9285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10970465" y="3310677"/>
            <a:ext cx="109579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Code changes are required in existing Extension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17457" bIns="17457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Helvetica Neue"/>
              </a:rPr>
              <a:t>        </a:t>
            </a:r>
            <a:r>
              <a:rPr kumimoji="0" lang="en-US" altLang="en-US" sz="100" b="0" i="0" u="sng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Helvetica Neue"/>
                <a:cs typeface="Arial" panose="020B0604020202020204" pitchFamily="34" charset="0"/>
                <a:hlinkClick r:id="rId3" tooltip="BOM Model"/>
              </a:rPr>
              <a:t>R</a:t>
            </a:r>
            <a:r>
              <a:rPr kumimoji="0" lang="en-US" altLang="en-US" sz="900" b="0" i="0" u="sng" strike="noStrike" cap="none" normalizeH="0" baseline="0" smtClean="0" bmk="">
                <a:ln>
                  <a:noFill/>
                </a:ln>
                <a:solidFill>
                  <a:srgbClr val="000000"/>
                </a:solidFill>
                <a:effectLst/>
                <a:latin typeface="Helvetica Neue"/>
                <a:cs typeface="Arial" panose="020B0604020202020204" pitchFamily="34" charset="0"/>
                <a:hlinkClick r:id="rId3" tooltip="BOM Model"/>
              </a:rPr>
              <a:t>-3051SAL</a:t>
            </a:r>
            <a:endParaRPr kumimoji="0" lang="en-US" altLang="en-US" sz="9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Helvetica Neue"/>
            </a:endParaRPr>
          </a:p>
        </p:txBody>
      </p:sp>
      <p:pic>
        <p:nvPicPr>
          <p:cNvPr id="2050" name="Picture 2" descr="BOM Model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2463" y="-76200"/>
            <a:ext cx="152400" cy="15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https://bryand10.emrsn.com/OA_HTML/cabo/images/skyros/t.gi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2963" y="-76200"/>
            <a:ext cx="28575" cy="28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Oval 7"/>
          <p:cNvSpPr/>
          <p:nvPr/>
        </p:nvSpPr>
        <p:spPr>
          <a:xfrm>
            <a:off x="1078173" y="4231816"/>
            <a:ext cx="2116540" cy="133647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380699" y="4454634"/>
            <a:ext cx="14876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New extension will work</a:t>
            </a:r>
            <a:endParaRPr lang="en-US" dirty="0"/>
          </a:p>
        </p:txBody>
      </p:sp>
      <p:sp>
        <p:nvSpPr>
          <p:cNvPr id="36" name="Oval 35"/>
          <p:cNvSpPr/>
          <p:nvPr/>
        </p:nvSpPr>
        <p:spPr>
          <a:xfrm>
            <a:off x="3509239" y="4505760"/>
            <a:ext cx="2116540" cy="133647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6425253" y="4927347"/>
            <a:ext cx="2116540" cy="133647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3849806" y="4836360"/>
            <a:ext cx="14876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New extension will work</a:t>
            </a:r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6832156" y="5163705"/>
            <a:ext cx="14876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New extension will work</a:t>
            </a:r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1230005" y="5726038"/>
            <a:ext cx="14790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accent6"/>
                </a:solidFill>
              </a:rPr>
              <a:t>Extension triggers once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636277" y="5891451"/>
            <a:ext cx="14790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accent6"/>
                </a:solidFill>
              </a:rPr>
              <a:t>Extension triggers once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399913" y="4702747"/>
            <a:ext cx="14790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accent6"/>
                </a:solidFill>
              </a:rPr>
              <a:t>Extension triggers once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0886364" y="5940651"/>
            <a:ext cx="14790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tx2"/>
                </a:solidFill>
              </a:rPr>
              <a:t>Extension triggers once</a:t>
            </a:r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5030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0878" y="2262163"/>
            <a:ext cx="10671412" cy="1873109"/>
          </a:xfrm>
        </p:spPr>
        <p:txBody>
          <a:bodyPr/>
          <a:lstStyle/>
          <a:p>
            <a:pPr algn="ctr"/>
            <a:r>
              <a:rPr lang="en-US" i="1" dirty="0" smtClean="0">
                <a:solidFill>
                  <a:srgbClr val="FF0000"/>
                </a:solidFill>
              </a:rPr>
              <a:t>Existing FPA to OCD configurator Extension Logic</a:t>
            </a:r>
            <a:endParaRPr lang="en-US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99282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382137" y="286603"/>
            <a:ext cx="1528550" cy="1023582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805218" y="613728"/>
            <a:ext cx="682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Start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647666" y="286603"/>
            <a:ext cx="1869743" cy="102358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070746" y="475228"/>
            <a:ext cx="12419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Quote/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Order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59104" y="286603"/>
            <a:ext cx="1555845" cy="146031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5609229" y="382895"/>
            <a:ext cx="12555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User click on Product Advisor Application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902054" y="382895"/>
            <a:ext cx="1624083" cy="120032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065827" y="555093"/>
            <a:ext cx="14603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Selected user required options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80029" y="2225006"/>
            <a:ext cx="1815153" cy="195120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805218" y="2461946"/>
            <a:ext cx="148078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After product advisor selections PA_REF_ID generates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439235" y="2225006"/>
            <a:ext cx="2565779" cy="184202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3691719" y="2461946"/>
            <a:ext cx="231329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By using Oracle PL/SQL code based on pa_ref_id, sizing details will be stored in Oracle tables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864823" y="2225006"/>
            <a:ext cx="2538484" cy="171426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7315201" y="2407355"/>
            <a:ext cx="189703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By using java code calling the oracle table data and populate in </a:t>
            </a:r>
            <a:r>
              <a:rPr lang="en-US" dirty="0" err="1" smtClean="0">
                <a:solidFill>
                  <a:schemeClr val="bg1"/>
                </a:solidFill>
              </a:rPr>
              <a:t>cofigurator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795983" y="4490114"/>
            <a:ext cx="1801505" cy="113276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9184943" y="4491799"/>
            <a:ext cx="16172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Extension triggers only once to all models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0" name="Oval 19"/>
          <p:cNvSpPr/>
          <p:nvPr/>
        </p:nvSpPr>
        <p:spPr>
          <a:xfrm>
            <a:off x="5991365" y="4708815"/>
            <a:ext cx="1255594" cy="900753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6305263" y="5028840"/>
            <a:ext cx="750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EXIST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35" name="Straight Connector 34"/>
          <p:cNvCxnSpPr/>
          <p:nvPr/>
        </p:nvCxnSpPr>
        <p:spPr>
          <a:xfrm>
            <a:off x="1487605" y="1842448"/>
            <a:ext cx="6905767" cy="1501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V="1">
            <a:off x="8393373" y="1555844"/>
            <a:ext cx="0" cy="4642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4" idx="6"/>
            <a:endCxn id="6" idx="1"/>
          </p:cNvCxnSpPr>
          <p:nvPr/>
        </p:nvCxnSpPr>
        <p:spPr>
          <a:xfrm>
            <a:off x="1910687" y="798394"/>
            <a:ext cx="7369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6" idx="3"/>
          </p:cNvCxnSpPr>
          <p:nvPr/>
        </p:nvCxnSpPr>
        <p:spPr>
          <a:xfrm flipV="1">
            <a:off x="4517409" y="798393"/>
            <a:ext cx="94169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8" idx="3"/>
            <a:endCxn id="10" idx="1"/>
          </p:cNvCxnSpPr>
          <p:nvPr/>
        </p:nvCxnSpPr>
        <p:spPr>
          <a:xfrm flipV="1">
            <a:off x="7014949" y="983060"/>
            <a:ext cx="887105" cy="336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endCxn id="12" idx="0"/>
          </p:cNvCxnSpPr>
          <p:nvPr/>
        </p:nvCxnSpPr>
        <p:spPr>
          <a:xfrm>
            <a:off x="1487605" y="1842448"/>
            <a:ext cx="1" cy="3825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stCxn id="12" idx="3"/>
            <a:endCxn id="14" idx="1"/>
          </p:cNvCxnSpPr>
          <p:nvPr/>
        </p:nvCxnSpPr>
        <p:spPr>
          <a:xfrm flipV="1">
            <a:off x="2395182" y="3146020"/>
            <a:ext cx="1044053" cy="545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14" idx="3"/>
            <a:endCxn id="16" idx="1"/>
          </p:cNvCxnSpPr>
          <p:nvPr/>
        </p:nvCxnSpPr>
        <p:spPr>
          <a:xfrm flipV="1">
            <a:off x="6005014" y="3082140"/>
            <a:ext cx="859809" cy="638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stCxn id="16" idx="3"/>
          </p:cNvCxnSpPr>
          <p:nvPr/>
        </p:nvCxnSpPr>
        <p:spPr>
          <a:xfrm>
            <a:off x="9403307" y="3082140"/>
            <a:ext cx="10099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>
            <a:off x="10413242" y="3082140"/>
            <a:ext cx="0" cy="14079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>
            <a:stCxn id="18" idx="1"/>
            <a:endCxn id="20" idx="6"/>
          </p:cNvCxnSpPr>
          <p:nvPr/>
        </p:nvCxnSpPr>
        <p:spPr>
          <a:xfrm flipH="1">
            <a:off x="7246959" y="5056496"/>
            <a:ext cx="1549024" cy="1026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0849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0878" y="2262163"/>
            <a:ext cx="10671412" cy="1873109"/>
          </a:xfrm>
        </p:spPr>
        <p:txBody>
          <a:bodyPr/>
          <a:lstStyle/>
          <a:p>
            <a:pPr algn="ctr"/>
            <a:r>
              <a:rPr lang="en-US" i="1" dirty="0" smtClean="0">
                <a:solidFill>
                  <a:srgbClr val="FF0000"/>
                </a:solidFill>
              </a:rPr>
              <a:t>Proposing LPA to OCD configurator Extension Logic</a:t>
            </a:r>
            <a:endParaRPr lang="en-US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74134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382137" y="286603"/>
            <a:ext cx="1528550" cy="1023582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805218" y="613728"/>
            <a:ext cx="682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Start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647666" y="286603"/>
            <a:ext cx="1869743" cy="102358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070746" y="475228"/>
            <a:ext cx="12419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Quote/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Order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59104" y="286603"/>
            <a:ext cx="1555845" cy="146031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5609229" y="382895"/>
            <a:ext cx="12555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User click on Product Advisor Application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902054" y="382895"/>
            <a:ext cx="1624083" cy="120032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065827" y="555093"/>
            <a:ext cx="14603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Selected user required options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80029" y="2225006"/>
            <a:ext cx="1815153" cy="195120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805218" y="2461946"/>
            <a:ext cx="148078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After product advisor selections PA_REF_ID generates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439235" y="2399056"/>
            <a:ext cx="2538484" cy="171426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3691720" y="2421889"/>
            <a:ext cx="216316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By using java code calling the Service with input parameters pa_ref_id, </a:t>
            </a:r>
            <a:r>
              <a:rPr lang="en-US" dirty="0" err="1" smtClean="0">
                <a:solidFill>
                  <a:schemeClr val="bg1"/>
                </a:solidFill>
              </a:rPr>
              <a:t>header_id</a:t>
            </a:r>
            <a:r>
              <a:rPr lang="en-US" dirty="0" smtClean="0">
                <a:solidFill>
                  <a:schemeClr val="bg1"/>
                </a:solidFill>
              </a:rPr>
              <a:t> and </a:t>
            </a:r>
            <a:r>
              <a:rPr lang="en-US" dirty="0" err="1" smtClean="0">
                <a:solidFill>
                  <a:schemeClr val="bg1"/>
                </a:solidFill>
              </a:rPr>
              <a:t>line_id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021772" y="2552341"/>
            <a:ext cx="1801505" cy="113276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7274257" y="2600445"/>
            <a:ext cx="16172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Extension triggers only once to all models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0" name="Oval 19"/>
          <p:cNvSpPr/>
          <p:nvPr/>
        </p:nvSpPr>
        <p:spPr>
          <a:xfrm>
            <a:off x="9567078" y="2722938"/>
            <a:ext cx="1255594" cy="900753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9867330" y="3118723"/>
            <a:ext cx="750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EXIST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35" name="Straight Connector 34"/>
          <p:cNvCxnSpPr/>
          <p:nvPr/>
        </p:nvCxnSpPr>
        <p:spPr>
          <a:xfrm>
            <a:off x="1487605" y="1842448"/>
            <a:ext cx="6905767" cy="1501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V="1">
            <a:off x="8393373" y="1555844"/>
            <a:ext cx="0" cy="4642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4" idx="6"/>
            <a:endCxn id="6" idx="1"/>
          </p:cNvCxnSpPr>
          <p:nvPr/>
        </p:nvCxnSpPr>
        <p:spPr>
          <a:xfrm>
            <a:off x="1910687" y="798394"/>
            <a:ext cx="7369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6" idx="3"/>
          </p:cNvCxnSpPr>
          <p:nvPr/>
        </p:nvCxnSpPr>
        <p:spPr>
          <a:xfrm flipV="1">
            <a:off x="4517409" y="798393"/>
            <a:ext cx="94169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8" idx="3"/>
            <a:endCxn id="10" idx="1"/>
          </p:cNvCxnSpPr>
          <p:nvPr/>
        </p:nvCxnSpPr>
        <p:spPr>
          <a:xfrm flipV="1">
            <a:off x="7014949" y="983060"/>
            <a:ext cx="887105" cy="336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endCxn id="12" idx="0"/>
          </p:cNvCxnSpPr>
          <p:nvPr/>
        </p:nvCxnSpPr>
        <p:spPr>
          <a:xfrm>
            <a:off x="1487605" y="1842448"/>
            <a:ext cx="1" cy="3825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stCxn id="12" idx="3"/>
          </p:cNvCxnSpPr>
          <p:nvPr/>
        </p:nvCxnSpPr>
        <p:spPr>
          <a:xfrm flipV="1">
            <a:off x="2395182" y="3146020"/>
            <a:ext cx="1044053" cy="545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8" idx="3"/>
          </p:cNvCxnSpPr>
          <p:nvPr/>
        </p:nvCxnSpPr>
        <p:spPr>
          <a:xfrm>
            <a:off x="8823277" y="3118723"/>
            <a:ext cx="7438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16" idx="3"/>
            <a:endCxn id="18" idx="1"/>
          </p:cNvCxnSpPr>
          <p:nvPr/>
        </p:nvCxnSpPr>
        <p:spPr>
          <a:xfrm flipV="1">
            <a:off x="5977719" y="3118723"/>
            <a:ext cx="1044053" cy="1374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08953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Difference between FPA and LPA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01876530"/>
              </p:ext>
            </p:extLst>
          </p:nvPr>
        </p:nvGraphicFramePr>
        <p:xfrm>
          <a:off x="838200" y="1825625"/>
          <a:ext cx="10515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FPA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LPA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Stores in oracle database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Stores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smtClean="0"/>
                        <a:t>in cloud database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Calling database tables in configurator extension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Calling azure api in configurator extension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Setup is similar to</a:t>
                      </a:r>
                      <a:r>
                        <a:rPr lang="en-US" baseline="0" dirty="0" smtClean="0"/>
                        <a:t> FPA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7713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07475" y="1856096"/>
            <a:ext cx="35893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Queries??</a:t>
            </a:r>
            <a:endParaRPr lang="en-US" sz="48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64342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417</TotalTime>
  <Words>597</Words>
  <Application>Microsoft Office PowerPoint</Application>
  <PresentationFormat>Widescreen</PresentationFormat>
  <Paragraphs>156</Paragraphs>
  <Slides>16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Helvetica Neue</vt:lpstr>
      <vt:lpstr>Office Theme</vt:lpstr>
      <vt:lpstr>Visio.Drawing.11</vt:lpstr>
      <vt:lpstr>INTRODUCTION</vt:lpstr>
      <vt:lpstr>PowerPoint Presentation</vt:lpstr>
      <vt:lpstr>Difference between ADF and Azure Application</vt:lpstr>
      <vt:lpstr>PowerPoint Presentation</vt:lpstr>
      <vt:lpstr>Difference between oracle database and cloud database in  configurator</vt:lpstr>
      <vt:lpstr>Drawbacks to modify existing configurator</vt:lpstr>
      <vt:lpstr>PowerPoint Presentation</vt:lpstr>
      <vt:lpstr>If we propose new configurator extension, Analyzed the impact of current flow models</vt:lpstr>
      <vt:lpstr>PowerPoint Presentation</vt:lpstr>
      <vt:lpstr>PowerPoint Presentation</vt:lpstr>
      <vt:lpstr>Existing FPA to OCD configurator Extension Logic</vt:lpstr>
      <vt:lpstr>PowerPoint Presentation</vt:lpstr>
      <vt:lpstr>Proposing LPA to OCD configurator Extension Logic</vt:lpstr>
      <vt:lpstr>PowerPoint Presentation</vt:lpstr>
      <vt:lpstr>Difference between FPA and LPA</vt:lpstr>
      <vt:lpstr>PowerPoint Presentation</vt:lpstr>
    </vt:vector>
  </TitlesOfParts>
  <Company>SLKSOFT.COM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Anusha Nalla</dc:creator>
  <cp:lastModifiedBy>Anusha Nalla</cp:lastModifiedBy>
  <cp:revision>43</cp:revision>
  <dcterms:created xsi:type="dcterms:W3CDTF">2020-12-01T05:45:37Z</dcterms:created>
  <dcterms:modified xsi:type="dcterms:W3CDTF">2020-12-03T09:58:16Z</dcterms:modified>
</cp:coreProperties>
</file>